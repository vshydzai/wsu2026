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a479855b07147e4" /><Relationship Type="http://schemas.openxmlformats.org/officeDocument/2006/relationships/extended-properties" Target="/docProps/app.xml" Id="Rc2774f50ffd248e4" /><Relationship Type="http://schemas.openxmlformats.org/officeDocument/2006/relationships/officeDocument" Target="/ppt/presentation.xml" Id="Reacda60a8a1640c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261545b34344aa0"/>
  </p:sldMasterIdLst>
  <p:notesMasterIdLst>
    <p:notesMasterId xmlns:r="http://schemas.openxmlformats.org/officeDocument/2006/relationships" r:id="R3463d2024ef54f8a"/>
  </p:notesMasterIdLst>
  <p:sldIdLst>
    <p:sldId xmlns:r="http://schemas.openxmlformats.org/officeDocument/2006/relationships" id="256" r:id="Rcc715bce18dd49b6"/>
    <p:sldId xmlns:r="http://schemas.openxmlformats.org/officeDocument/2006/relationships" id="257" r:id="R6ca8517ae5264249"/>
    <p:sldId xmlns:r="http://schemas.openxmlformats.org/officeDocument/2006/relationships" id="258" r:id="R9bac887b527342c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72778f7a5104ff8" /><Relationship Type="http://schemas.openxmlformats.org/officeDocument/2006/relationships/slideMaster" Target="/ppt/slideMasters/slideMaster1.xml" Id="R8261545b34344aa0" /><Relationship Type="http://schemas.openxmlformats.org/officeDocument/2006/relationships/notesMaster" Target="/ppt/notesMasters/notesMaster1.xml" Id="R3463d2024ef54f8a" /><Relationship Type="http://schemas.openxmlformats.org/officeDocument/2006/relationships/presProps" Target="/ppt/presProps.xml" Id="R88167fb46581421e" /><Relationship Type="http://schemas.openxmlformats.org/officeDocument/2006/relationships/tableStyles" Target="/ppt/tableStyles.xml" Id="R50f734e6bcab49b5" /><Relationship Type="http://schemas.openxmlformats.org/officeDocument/2006/relationships/slide" Target="/ppt/slides/slide1.xml" Id="Rcc715bce18dd49b6" /><Relationship Type="http://schemas.openxmlformats.org/officeDocument/2006/relationships/slide" Target="/ppt/slides/slide2.xml" Id="R6ca8517ae5264249" /><Relationship Type="http://schemas.openxmlformats.org/officeDocument/2006/relationships/slide" Target="/ppt/slides/slide3.xml" Id="R9bac887b527342c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e9a9f66dcbd42d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85133a277364394" /><Relationship Type="http://schemas.openxmlformats.org/officeDocument/2006/relationships/notesMaster" Target="/ppt/notesMasters/notesMaster1.xml" Id="R20d34aa53dfd40f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054092dafaa4ea8" /><Relationship Type="http://schemas.openxmlformats.org/officeDocument/2006/relationships/notesMaster" Target="/ppt/notesMasters/notesMaster1.xml" Id="Rfa10ba5bf44a4eb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5818d6676bc4450" /><Relationship Type="http://schemas.openxmlformats.org/officeDocument/2006/relationships/notesMaster" Target="/ppt/notesMasters/notesMaster1.xml" Id="Rc443243b6944458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Opening: WebHealth checks website availability, latency and HTTP status. The user maintains a target list through a public REST API. The runtime reads DynamoDB, rather than a packaged JSON target list. The following two slides explain runtime and release design before the live code walkthrough. These slides describe implemented design; they do not claim a successful live AWS deployment. Source: Vshydzai/WSU2026 feature/crawler-crud-pipeline, README and stack implementation.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API Gateway invokes the live API Lambda alias. Validation protects the public interface, and the crawler rechecks DNS and redirects before connecting to a public IP. EventBridge invokes the live crawler alias on a 30-minute cadence. Each environment has its own tables, functions, logs, alarms and dashboard. Python peak RSS is the process memory metric; full Lambda runtime memory is also available in REPORT log queries. Sources: repository vshydzai_stack.py, targets_api.py, target_repository.py and webhealth.py; https://docs.aws.amazon.com/lambda/latest/dg/services-apigateway-tutorial.html 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Every environment has post-deployment integration tests; a failed test stops promotion. Production also requires manual approval. CodeDeploy shifts the live Lambda aliases using the 10-percent, five-minute canary configuration and automatically reverses a deployment when health alarms fire. A separate handler records successful releases and can restore the previous alias version after an operational alarm, with guards for active deployments and concurrent alias updates. Retained Lambda versions support rollback; deleting their parent function removes them during cleanup. Do not claim a live rollback until the Beta experiment and evidence checklist are completed. Sources: repository pipeline_stack.py, vshydzai_stack.py and release_manager.py; https://docs.aws.amazon.com/cdk/v2/guide/cdk-pipeline.html ; https://docs.aws.amazon.com/cdk/api/v2/python/aws_cdk.aws_codedeploy/LambdaDeploymentGroup.html 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5f8b228d82b4855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232965f9b33430b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706e50f79e1488c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1813280a8ca409d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48a737d08384841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f40b9354dbf40a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28114DC0-32AF-44F5-B4F2-A9809898B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2098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6953A798-9854-4CF9-BD29-2C4BE1F5083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F0127D26-4AA5-45A0-8720-6922DFB9CB0F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Accent rule">
            <a:extLst xmlns:a="http://schemas.openxmlformats.org/drawingml/2006/main">
              <a:ext uri="{FF2B5EF4-FFF2-40B4-BE49-F238E27FC236}">
                <a16:creationId xmlns:a16="http://schemas.microsoft.com/office/drawing/2014/main" id="{89E7F6E6-BF47-4736-A200-1FE44BA60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4765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BD60524A-6ABE-4D7B-9780-80E60A7672C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A9776155-B438-4B2D-945A-84702D6D6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CBCB221C-600B-4FFA-8063-7C2EA2AC384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DDFC8911-54B9-4478-A120-3FF2FD25545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Accent rule">
            <a:extLst xmlns:a="http://schemas.openxmlformats.org/drawingml/2006/main">
              <a:ext uri="{FF2B5EF4-FFF2-40B4-BE49-F238E27FC236}">
                <a16:creationId xmlns:a16="http://schemas.microsoft.com/office/drawing/2014/main" id="{447E4FA7-F9C0-4C31-BEF0-C5377CCC7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7A1F3BCB-0B2C-4A16-955C-DB411FD3984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D90DABB-3FD2-4118-A12A-F2382CB1E54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4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828682E1-D6DF-4564-9176-B684881BCCC2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A29D346D-B962-47EC-8FE0-E9433EBF9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04238160-AFB8-4FE7-95D0-A43593108C6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97CF513-D453-481D-9532-254393BEA2A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11eb082b55f4535" /><Relationship Type="http://schemas.openxmlformats.org/officeDocument/2006/relationships/slideLayout" Target="/ppt/slideLayouts/slideLayout1.xml" Id="R4ce5f3f3a8854e18" /><Relationship Type="http://schemas.openxmlformats.org/officeDocument/2006/relationships/slideLayout" Target="/ppt/slideLayouts/slideLayout2.xml" Id="R0378d65826504dcb" /><Relationship Type="http://schemas.openxmlformats.org/officeDocument/2006/relationships/slideLayout" Target="/ppt/slideLayouts/slideLayout3.xml" Id="Rbdb0015549d74794" /><Relationship Type="http://schemas.openxmlformats.org/officeDocument/2006/relationships/slideLayout" Target="/ppt/slideLayouts/slideLayout4.xml" Id="Ra1ec3c6e08bb4929" /><Relationship Type="http://schemas.openxmlformats.org/officeDocument/2006/relationships/slideLayout" Target="/ppt/slideLayouts/slideLayout5.xml" Id="R8c4212239ddf4567" /><Relationship Type="http://schemas.openxmlformats.org/officeDocument/2006/relationships/slideLayout" Target="/ppt/slideLayouts/slideLayout6.xml" Id="Rcfd3a7b49b9a4df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ce5f3f3a8854e18"/>
    <p:sldLayoutId xmlns:r="http://schemas.openxmlformats.org/officeDocument/2006/relationships" id="2147483650" r:id="R0378d65826504dcb"/>
    <p:sldLayoutId xmlns:r="http://schemas.openxmlformats.org/officeDocument/2006/relationships" id="2147483651" r:id="Rbdb0015549d74794"/>
    <p:sldLayoutId xmlns:r="http://schemas.openxmlformats.org/officeDocument/2006/relationships" id="2147483652" r:id="Ra1ec3c6e08bb4929"/>
    <p:sldLayoutId xmlns:r="http://schemas.openxmlformats.org/officeDocument/2006/relationships" id="2147483653" r:id="R8c4212239ddf4567"/>
    <p:sldLayoutId xmlns:r="http://schemas.openxmlformats.org/officeDocument/2006/relationships" id="2147483654" r:id="Rcfd3a7b49b9a4df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74f452f36e144a0" /><Relationship Type="http://schemas.openxmlformats.org/officeDocument/2006/relationships/notesSlide" Target="/ppt/notesSlides/notesSlide1.xml" Id="Rd801bb26f6164e9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d7b558f20ff4847" /><Relationship Type="http://schemas.openxmlformats.org/officeDocument/2006/relationships/notesSlide" Target="/ppt/notesSlides/notesSlide2.xml" Id="Rc995723276d744f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c3a72cd4f8949a9" /><Relationship Type="http://schemas.openxmlformats.org/officeDocument/2006/relationships/notesSlide" Target="/ppt/notesSlides/notesSlide3.xml" Id="R4354897b64a2471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1C999C-F400-40F3-81A5-E9690A3F2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0125"/>
            <a:ext cx="108204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6600" b="1">
                <a:solidFill>
                  <a:srgbClr val="1427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6600" b="1">
                <a:solidFill>
                  <a:srgbClr val="142735"/>
                </a:solidFill>
                <a:latin typeface="Bitstream Charter"/>
                <a:ea typeface="Bitstream Charter"/>
                <a:cs typeface="Bitstream Charter"/>
              </a:rPr>
              <a:t>WebHealth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5AF340-990F-4FA5-8976-621AE1C9C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09825"/>
            <a:ext cx="108204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0">
                <a:solidFill>
                  <a:srgbClr val="24577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150" b="0">
                <a:solidFill>
                  <a:srgbClr val="24577A"/>
                </a:solidFill>
                <a:latin typeface="Bitstream Charter"/>
                <a:ea typeface="Bitstream Charter"/>
                <a:cs typeface="Bitstream Charter"/>
              </a:rPr>
              <a:t>Manage crawl targets. Monitor website health.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793442-3619-40A4-8D79-B7CD97344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57625"/>
            <a:ext cx="10820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427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400" b="0">
                <a:solidFill>
                  <a:srgbClr val="142735"/>
                </a:solidFill>
                <a:latin typeface="Bitstream Charter"/>
                <a:ea typeface="Bitstream Charter"/>
                <a:cs typeface="Bitstream Charter"/>
              </a:rPr>
              <a:t>Public REST API · Python Lambda · DynamoDB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D60F98-7187-4403-8B2F-FC281C920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10100"/>
            <a:ext cx="10820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427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400" b="0">
                <a:solidFill>
                  <a:srgbClr val="142735"/>
                </a:solidFill>
                <a:latin typeface="Bitstream Charter"/>
                <a:ea typeface="Bitstream Charter"/>
                <a:cs typeface="Bitstream Charter"/>
              </a:rPr>
              <a:t>AWS CDK · Beta, Gamma and Prod · One region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2C0376-2C5E-4E49-AFDB-0B7C64877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91200"/>
            <a:ext cx="1082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427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0">
                <a:solidFill>
                  <a:srgbClr val="142735"/>
                </a:solidFill>
                <a:latin typeface="Bitstream Charter"/>
                <a:ea typeface="Bitstream Charter"/>
                <a:cs typeface="Bitstream Charter"/>
              </a:rPr>
              <a:t>Design overview, followed by the code demonstration</a:t>
            </a:r>
          </a:p>
        </p:txBody>
      </p:sp>
    </p:spTree>
    <p:extLst>
      <p:ext uri="{BB962C8B-B14F-4D97-AF65-F5344CB8AC3E}">
        <p14:creationId xmlns:p14="http://schemas.microsoft.com/office/powerpoint/2010/main" val="50050242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525B34-5515-4DB0-BE76-EA66B45E7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427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600" b="1">
                <a:solidFill>
                  <a:srgbClr val="142735"/>
                </a:solidFill>
                <a:latin typeface="Bitstream Charter"/>
                <a:ea typeface="Bitstream Charter"/>
                <a:cs typeface="Bitstream Charter"/>
              </a:rPr>
              <a:t>Runtime 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4E3CE6-AAA0-428C-B94E-04BBA001A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4577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00" b="0">
                <a:solidFill>
                  <a:srgbClr val="24577A"/>
                </a:solidFill>
                <a:latin typeface="Bitstream Charter"/>
                <a:ea typeface="Bitstream Charter"/>
                <a:cs typeface="Bitstream Charter"/>
              </a:rPr>
              <a:t>Targets flow from the REST API into scheduled health checks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85800" y="1809750"/>
          <a:ext xmlns:a="http://schemas.openxmlformats.org/drawingml/2006/main" cx="10820400" cy="4000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476500"/>
                <a:gridCol w="4191000"/>
                <a:gridCol w="4152900"/>
              </a:tblGrid>
              <a:tr h="6667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Workflow</a:t>
                      </a:r>
                    </a:p>
                  </a:txBody>
                  <a:tcPr marL="152400" marR="152400" marT="76200" marB="76200">
                    <a:solidFill>
                      <a:srgbClr val="1427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AWS components</a:t>
                      </a:r>
                    </a:p>
                  </a:txBody>
                  <a:tcPr marL="152400" marR="152400" marT="76200" marB="76200">
                    <a:solidFill>
                      <a:srgbClr val="1427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Result</a:t>
                      </a:r>
                    </a:p>
                  </a:txBody>
                  <a:tcPr marL="152400" marR="152400" marT="76200" marB="76200">
                    <a:solidFill>
                      <a:srgbClr val="142735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42735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Manage targets</a:t>
                      </a:r>
                    </a:p>
                  </a:txBody>
                  <a:tcPr marL="152400" marR="15240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42735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API Gateway + CRUD Lambda</a:t>
                      </a:r>
                    </a:p>
                  </a:txBody>
                  <a:tcPr marL="152400" marR="15240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42735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Create, read, update, delete</a:t>
                      </a:r>
                    </a:p>
                  </a:txBody>
                  <a:tcPr marL="152400" marR="152400" marT="76200" marB="76200"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42735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Store targets</a:t>
                      </a:r>
                    </a:p>
                  </a:txBody>
                  <a:tcPr marL="152400" marR="15240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42735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DynamoDB Targets table</a:t>
                      </a:r>
                    </a:p>
                  </a:txBody>
                  <a:tcPr marL="152400" marR="15240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42735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Shared enabled target list</a:t>
                      </a:r>
                    </a:p>
                  </a:txBody>
                  <a:tcPr marL="152400" marR="152400" marT="76200" marB="76200"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42735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Check websites</a:t>
                      </a:r>
                    </a:p>
                  </a:txBody>
                  <a:tcPr marL="152400" marR="15240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42735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EventBridge + crawler Lambda</a:t>
                      </a:r>
                    </a:p>
                  </a:txBody>
                  <a:tcPr marL="152400" marR="15240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42735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Availability, latency and status</a:t>
                      </a:r>
                    </a:p>
                  </a:txBody>
                  <a:tcPr marL="152400" marR="152400" marT="76200" marB="76200"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42735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Observe health</a:t>
                      </a:r>
                    </a:p>
                  </a:txBody>
                  <a:tcPr marL="152400" marR="15240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42735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CloudWatch metrics + alarms</a:t>
                      </a:r>
                    </a:p>
                  </a:txBody>
                  <a:tcPr marL="152400" marR="15240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42735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Run time, memory and errors</a:t>
                      </a:r>
                    </a:p>
                  </a:txBody>
                  <a:tcPr marL="152400" marR="152400" marT="76200" marB="76200"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42735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Record alarms</a:t>
                      </a:r>
                    </a:p>
                  </a:txBody>
                  <a:tcPr marL="152400" marR="15240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42735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SNS + logger + DynamoDB</a:t>
                      </a:r>
                    </a:p>
                  </a:txBody>
                  <a:tcPr marL="152400" marR="15240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42735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Notification and alarm history</a:t>
                      </a:r>
                    </a:p>
                  </a:txBody>
                  <a:tcPr marL="152400" marR="152400" marT="76200" marB="762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183165-AEA4-49A3-B7D9-C63D14563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15050"/>
            <a:ext cx="1082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427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0">
                <a:solidFill>
                  <a:srgbClr val="142735"/>
                </a:solidFill>
                <a:latin typeface="Bitstream Charter"/>
                <a:ea typeface="Bitstream Charter"/>
                <a:cs typeface="Bitstream Charter"/>
              </a:rPr>
              <a:t>The crawler runs every 30 minutes; its role can only read targets.</a:t>
            </a:r>
          </a:p>
        </p:txBody>
      </p:sp>
    </p:spTree>
    <p:extLst>
      <p:ext uri="{BB962C8B-B14F-4D97-AF65-F5344CB8AC3E}">
        <p14:creationId xmlns:p14="http://schemas.microsoft.com/office/powerpoint/2010/main" val="43489734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EEF3E4-7FD3-44E2-A12D-B5081D3A3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427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600" b="1">
                <a:solidFill>
                  <a:srgbClr val="142735"/>
                </a:solidFill>
                <a:latin typeface="Bitstream Charter"/>
                <a:ea typeface="Bitstream Charter"/>
                <a:cs typeface="Bitstream Charter"/>
              </a:rPr>
              <a:t>Deployment and recovery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017B99-44FC-4B6A-B2F1-5D197DE2D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4577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00" b="0">
                <a:solidFill>
                  <a:srgbClr val="24577A"/>
                </a:solidFill>
                <a:latin typeface="Bitstream Charter"/>
                <a:ea typeface="Bitstream Charter"/>
                <a:cs typeface="Bitstream Charter"/>
              </a:rPr>
              <a:t>Automated tests gate promotion through Beta, Gamma and Prod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85800" y="1809750"/>
          <a:ext xmlns:a="http://schemas.openxmlformats.org/drawingml/2006/main" cx="10820400" cy="3619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476500"/>
                <a:gridCol w="4191000"/>
                <a:gridCol w="4152900"/>
              </a:tblGrid>
              <a:tr h="7239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Step</a:t>
                      </a:r>
                    </a:p>
                  </a:txBody>
                  <a:tcPr marL="152400" marR="152400" marT="76200" marB="76200">
                    <a:solidFill>
                      <a:srgbClr val="1427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Mechanism</a:t>
                      </a:r>
                    </a:p>
                  </a:txBody>
                  <a:tcPr marL="152400" marR="152400" marT="76200" marB="76200">
                    <a:solidFill>
                      <a:srgbClr val="1427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Gate or recovery</a:t>
                      </a:r>
                    </a:p>
                  </a:txBody>
                  <a:tcPr marL="152400" marR="152400" marT="76200" marB="76200">
                    <a:solidFill>
                      <a:srgbClr val="142735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42735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Build</a:t>
                      </a:r>
                    </a:p>
                  </a:txBody>
                  <a:tcPr marL="152400" marR="15240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42735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CodeBuild + PyTest + CDK</a:t>
                      </a:r>
                    </a:p>
                  </a:txBody>
                  <a:tcPr marL="152400" marR="15240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42735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Lint, tests and synthesis</a:t>
                      </a:r>
                    </a:p>
                  </a:txBody>
                  <a:tcPr marL="152400" marR="152400" marT="76200" marB="76200"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42735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Beta and Gamma</a:t>
                      </a:r>
                    </a:p>
                  </a:txBody>
                  <a:tcPr marL="152400" marR="15240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42735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Isolated CDK stages</a:t>
                      </a:r>
                    </a:p>
                  </a:txBody>
                  <a:tcPr marL="152400" marR="15240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42735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Live CRUD and service tests</a:t>
                      </a:r>
                    </a:p>
                  </a:txBody>
                  <a:tcPr marL="152400" marR="152400" marT="76200" marB="76200"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42735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Prod</a:t>
                      </a:r>
                    </a:p>
                  </a:txBody>
                  <a:tcPr marL="152400" marR="15240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42735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Approval + CodeDeploy canary</a:t>
                      </a:r>
                    </a:p>
                  </a:txBody>
                  <a:tcPr marL="152400" marR="15240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42735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10% traffic for five minutes</a:t>
                      </a:r>
                    </a:p>
                  </a:txBody>
                  <a:tcPr marL="152400" marR="152400" marT="76200" marB="76200"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42735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Recover</a:t>
                      </a:r>
                    </a:p>
                  </a:txBody>
                  <a:tcPr marL="152400" marR="15240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42735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CodeDeploy + alarm handler</a:t>
                      </a:r>
                    </a:p>
                  </a:txBody>
                  <a:tcPr marL="152400" marR="15240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42735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Restore a previous version</a:t>
                      </a:r>
                    </a:p>
                  </a:txBody>
                  <a:tcPr marL="152400" marR="152400" marT="76200" marB="762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E086D6-516F-4D7C-A169-4F34F269A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76925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4577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250" b="1">
                <a:solidFill>
                  <a:srgbClr val="24577A"/>
                </a:solidFill>
                <a:latin typeface="Bitstream Charter"/>
                <a:ea typeface="Bitstream Charter"/>
                <a:cs typeface="Bitstream Charter"/>
              </a:rPr>
              <a:t>Destroy the project stacks after each working session.</a:t>
            </a:r>
          </a:p>
        </p:txBody>
      </p:sp>
    </p:spTree>
    <p:extLst>
      <p:ext uri="{BB962C8B-B14F-4D97-AF65-F5344CB8AC3E}">
        <p14:creationId xmlns:p14="http://schemas.microsoft.com/office/powerpoint/2010/main" val="121877288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2026-10-07T11:48:03.6120000Z</dcterms:created>
  <dcterms:modified xsi:type="dcterms:W3CDTF">2026-10-07T11:48:03.6130000Z</dcterms:modified>
</coreProperties>
</file>